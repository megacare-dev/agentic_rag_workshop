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554480"/>
            <a:ext cx="73152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73152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arabun"/>
              </a:rPr>
              <a:t>Agentic RAG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3600" b="1" i="0">
                <a:solidFill>
                  <a:srgbClr val="C4991C"/>
                </a:solidFill>
                <a:latin typeface="Sarabun"/>
              </a:rPr>
              <a:t>From Zero to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CCCDD"/>
                </a:solidFill>
                <a:latin typeface="Sarabun"/>
              </a:rPr>
              <a:t>Workshop 4 ชั่วโมง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CCCDD"/>
                </a:solidFill>
                <a:latin typeface="Sarabun"/>
              </a:rPr>
              <a:t>Workshop 4 ชั่วโมง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AC750"/>
                </a:solidFill>
                <a:latin typeface="Sarabun"/>
              </a:rPr>
              <a:t>คณะ ICT มหาวิทยาลัยมหิดล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77240"/>
            <a:ext cx="32004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4991C"/>
                </a:solidFill>
                <a:latin typeface="Sarabun"/>
              </a:rPr>
              <a:t>สิ่งที่จะได้เรียนรู้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0" i="0">
                <a:solidFill>
                  <a:srgbClr val="C4991C"/>
                </a:solidFill>
                <a:latin typeface="Sarabun"/>
              </a:rPr>
              <a:t>✂️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เตรียมข้อมูลสำหรับ RAG (Chunk → Embed → VectorDB)</a:t>
            </a:r>
          </a:p>
          <a:p>
            <a:pPr>
              <a:spcAft>
                <a:spcPts val="1800"/>
              </a:spcAft>
            </a:pPr>
            <a:r>
              <a:rPr sz="2200" b="0" i="0">
                <a:solidFill>
                  <a:srgbClr val="C4991C"/>
                </a:solidFill>
                <a:latin typeface="Sarabun"/>
              </a:rPr>
              <a:t>🤖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สร้าง AI Agent ด้วย Google ADK</a:t>
            </a:r>
          </a:p>
          <a:p>
            <a:pPr>
              <a:spcAft>
                <a:spcPts val="1800"/>
              </a:spcAft>
            </a:pPr>
            <a:r>
              <a:rPr sz="2200" b="0" i="0">
                <a:solidFill>
                  <a:srgbClr val="C4991C"/>
                </a:solidFill>
                <a:latin typeface="Sarabun"/>
              </a:rPr>
              <a:t>⭐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สร้าง Agentic RAG — Agent ที่ค้นหา + คิด + ตอบเอง</a:t>
            </a:r>
          </a:p>
          <a:p>
            <a:pPr>
              <a:spcAft>
                <a:spcPts val="1800"/>
              </a:spcAft>
            </a:pPr>
            <a:r>
              <a:rPr sz="2200" b="0" i="0">
                <a:solidFill>
                  <a:srgbClr val="C4991C"/>
                </a:solidFill>
                <a:latin typeface="Sarabun"/>
              </a:rPr>
              <a:t>📊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วัดคุณภาพด้วย LLM-as-Judge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77240"/>
            <a:ext cx="27432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4991C"/>
                </a:solidFill>
                <a:latin typeface="Sarabun"/>
              </a:rPr>
              <a:t>Timeline วัน Workshop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Part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เวลา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เนื้อหา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📢 Part 1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 ชม. 20 นาที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Data Pipeline: Chunk → Embed → Qdrant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☕ พัก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10 นาที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/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📢 Part 2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 ชม. 30 นาที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Agent → Tool → RAG Agent → Agentic RAG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🧪 Part 3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 ชม.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แบบฝึกหัด (10 คะแนน) + Q&amp;A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50292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4991C"/>
                </a:solidFill>
                <a:latin typeface="Sarabun"/>
              </a:rPr>
              <a:t>🌐 ลงทะเบียน — myhero.megawiz.co.th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AC750"/>
                </a:solidFill>
                <a:latin typeface="Sarabun"/>
              </a:rPr>
              <a:t>ขั้นตอนลงทะเบียน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1. เข้า myhero.megawiz.co.th/student-portal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2. กรอก อีเมล เพื่อรับ OTP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3. ใส่รหัส OTP → เข้าสู่ระบบ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4. กรอก ชื่อ-นามสกุล และ รหัสนักศึกษา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AC750"/>
                </a:solidFill>
                <a:latin typeface="Sarabun"/>
              </a:rPr>
              <a:t>สิ่งที่จะได้จากระบบ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📄 เอกสารประกอบการเรียน (Notebook)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📝 แบบฝึกหัด + ส่งงาน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</a:rPr>
              <a:t>🏆 Certificate หลังจบ workshop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411480"/>
          </a:xfrm>
          <a:prstGeom prst="roundRect">
            <a:avLst/>
          </a:prstGeom>
          <a:solidFill>
            <a:srgbClr val="222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300" b="1" i="0">
                <a:solidFill>
                  <a:srgbClr val="EAC750"/>
                </a:solidFill>
                <a:latin typeface="Sarabun"/>
              </a:rPr>
              <a:t>🎯 ลงทะเบียนก่อนมาเรียน เพื่อให้วัน workshop ไม่ต้องเสียเวลา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77240"/>
            <a:ext cx="45720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4991C"/>
                </a:solidFill>
                <a:latin typeface="Sarabun"/>
              </a:rPr>
              <a:t>⚠️ สิ่งที่ต้องเตรียมก่อนมาเรียน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1. ✅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ลงทะเบียน ที่ myhero.megawiz.co.th/student-portal</a:t>
            </a:r>
          </a:p>
          <a:p>
            <a:pPr>
              <a:spcAft>
                <a:spcPts val="18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2. 🔑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สร้าง Gemini API Key</a:t>
            </a:r>
          </a:p>
          <a:p>
            <a:pPr>
              <a:spcAft>
                <a:spcPts val="18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3. 💻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เปิด Google Colab ได้</a:t>
            </a:r>
          </a:p>
          <a:p>
            <a:pPr>
              <a:spcAft>
                <a:spcPts val="18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4. 🧪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ทดสอบ API Key ล่วงหน้า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41148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4991C"/>
                </a:solidFill>
                <a:latin typeface="Sarabun"/>
              </a:rPr>
              <a:t>🔑 วิธีสร้าง Gemini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1.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เข้า aistudio.google.com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2.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Login ด้วย Google Account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3.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คลิก "Get API Key" (มุมบนซ้าย)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4.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คลิก "Create API Key"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5.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เลือก Project → Create API key in new project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6.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Copy API Key เก็บไว้ (ห้ามแชร์!)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411480"/>
          </a:xfrm>
          <a:prstGeom prst="roundRect">
            <a:avLst/>
          </a:prstGeom>
          <a:solidFill>
            <a:srgbClr val="222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300" b="1" i="0">
                <a:solidFill>
                  <a:srgbClr val="EAC750"/>
                </a:solidFill>
                <a:latin typeface="Sarabun"/>
              </a:rPr>
              <a:t>⚠️ Free tier: 15 RPM (requests/minute) — เพียงพอสำหรับ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50292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4991C"/>
                </a:solidFill>
                <a:latin typeface="Sarabun"/>
              </a:rPr>
              <a:t>🔒 วิธีเก็บ API Key ใน Colab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1.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เปิด Google Colab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2.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คลิก 🔑 ไอคอนกุญแจ (แถบซ้าย) → "Secrets"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3.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คลิก "Add new secret"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4.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Name: GOOGLE_API_KEY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5.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Value: วาง API Key ที่ copy มา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EAC750"/>
                </a:solidFill>
                <a:latin typeface="Sarabun"/>
              </a:rPr>
              <a:t>6.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เปิด toggle "Notebook access"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411480"/>
          </a:xfrm>
          <a:prstGeom prst="roundRect">
            <a:avLst/>
          </a:prstGeom>
          <a:solidFill>
            <a:srgbClr val="222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300" b="1" i="0">
                <a:solidFill>
                  <a:srgbClr val="EAC750"/>
                </a:solidFill>
                <a:latin typeface="Sarabun"/>
              </a:rPr>
              <a:t>🎯 ทำแค่ครั้งเดียว — ใช้ได้ทุก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36576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4991C"/>
                </a:solidFill>
                <a:latin typeface="Sarabun"/>
              </a:rPr>
              <a:t>🚨 Error 429 — Rate Limit คืออะไร?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7724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>google.api_core.exceptions.ResourceExhausted: 429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>You exceeded your current quota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C4991C"/>
                </a:solidFill>
                <a:latin typeface="Sarabun"/>
              </a:rPr>
              <a:t>แปลว่า: </a:t>
            </a:r>
            <a:r>
              <a:rPr sz="1600" b="0" i="0">
                <a:solidFill>
                  <a:srgbClr val="FFFFFF"/>
                </a:solidFill>
                <a:latin typeface="Sarabun"/>
              </a:rPr>
              <a:t>ส่ง request เร็ว/เยอะเกินไป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AC750"/>
                </a:solidFill>
                <a:latin typeface="Sarabun"/>
              </a:rPr>
              <a:t>Free Tier Limits (Gemini 2.5 Flash):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Limit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ค่า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RPM (Requests/min)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15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TPM (Tokens/min)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1,000,000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RPD (Requests/day)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1,500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27432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4991C"/>
                </a:solidFill>
                <a:latin typeface="Sarabun"/>
              </a:rPr>
              <a:t>💡 วิธีแก้ Error 429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AC750"/>
                </a:solidFill>
                <a:latin typeface="Sarabun"/>
              </a:rPr>
              <a:t>แก้ทันที: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Sarabun"/>
              </a:rPr>
              <a:t>1. รอ 1-2 นาที แล้ว run ใหม่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Sarabun"/>
              </a:rPr>
              <a:t>2. อย่า run cell ซ้ำเร็วๆ — รอ output ก่อน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AC750"/>
                </a:solidFill>
                <a:latin typeface="Sarabun"/>
              </a:rPr>
              <a:t>แก้ถาวร (แนะนำ):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822960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import time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for attempt in range(3):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    try: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>        response = client.models.generate_content(...)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        break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    except Exception as 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        if '429' in str(e):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AB387"/>
                </a:solidFill>
                <a:latin typeface="Roboto Mono"/>
              </a:rPr>
              <a:t>            print(f'⏳ Rate limit, รอ {30*(attempt+1)} วินาที...')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>            time.sleep(30 * (attempt + 1))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        else: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            raise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32004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C4991C"/>
                </a:solidFill>
                <a:latin typeface="Sarabun"/>
              </a:rPr>
              <a:t>🧪 ทดสอบก่อนมาเรียน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CCCCDD"/>
                </a:solidFill>
                <a:latin typeface="Sarabun"/>
              </a:rPr>
              <a:t>เปิด Colab → สร้าง notebook ใหม่ → Run: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777240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6A9955"/>
                </a:solidFill>
                <a:latin typeface="Roboto Mono"/>
              </a:rPr>
              <a:t># 1. ตั้ง API Key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from google.colab import userdata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import 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AB387"/>
                </a:solidFill>
                <a:latin typeface="Roboto Mono"/>
              </a:rPr>
              <a:t>os.environ['GOOGLE_API_KEY'] = userdata.get('GOOGLE_API_KEY')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6A9955"/>
                </a:solidFill>
                <a:latin typeface="Roboto Mono"/>
              </a:rPr>
              <a:t># 2. ทดสอบ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7AA2F7"/>
                </a:solidFill>
                <a:latin typeface="Roboto Mono"/>
              </a:rPr>
              <a:t>from google import genai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AB387"/>
                </a:solidFill>
                <a:latin typeface="Roboto Mono"/>
              </a:rPr>
              <a:t>client = genai.Client(api_key=os.environ['GOOGLE_API_KEY'])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>resp = client.models.generate_content(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AB387"/>
                </a:solidFill>
                <a:latin typeface="Roboto Mono"/>
              </a:rPr>
              <a:t>    model='gemini-2.5-flash',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AB387"/>
                </a:solidFill>
                <a:latin typeface="Roboto Mono"/>
              </a:rPr>
              <a:t>    contents='สวัสดี ตอบสั้นๆ 1 ประโยค'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4EC963"/>
                </a:solidFill>
                <a:latin typeface="Roboto Mono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FAB387"/>
                </a:solidFill>
                <a:latin typeface="Roboto Mono"/>
              </a:rPr>
              <a:t>print(f'✅ สำเร็จ: {resp.text}')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411480"/>
          </a:xfrm>
          <a:prstGeom prst="roundRect">
            <a:avLst/>
          </a:prstGeom>
          <a:solidFill>
            <a:srgbClr val="222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300" b="1" i="0">
                <a:solidFill>
                  <a:srgbClr val="EAC750"/>
                </a:solidFill>
                <a:latin typeface="Sarabun"/>
              </a:rPr>
              <a:t>ถ้าเห็น ✅ = พร้อมเรียน!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77240"/>
            <a:ext cx="32004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4991C"/>
                </a:solidFill>
                <a:latin typeface="Sarabun"/>
              </a:rPr>
              <a:t>📋 Checklist ก่อนมาเรียน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☐  </a:t>
            </a:r>
            <a:r>
              <a:rPr sz="1800" b="0" i="0">
                <a:solidFill>
                  <a:srgbClr val="FFFFFF"/>
                </a:solidFill>
                <a:latin typeface="Sarabun"/>
              </a:rPr>
              <a:t>ลงทะเบียนที่ myhero.megawiz.co.th/student-portal แล้ว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☐  </a:t>
            </a:r>
            <a:r>
              <a:rPr sz="1800" b="0" i="0">
                <a:solidFill>
                  <a:srgbClr val="FFFFFF"/>
                </a:solidFill>
                <a:latin typeface="Sarabun"/>
              </a:rPr>
              <a:t>มี Google Account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☐  </a:t>
            </a:r>
            <a:r>
              <a:rPr sz="1800" b="0" i="0">
                <a:solidFill>
                  <a:srgbClr val="FFFFFF"/>
                </a:solidFill>
                <a:latin typeface="Sarabun"/>
              </a:rPr>
              <a:t>สร้าง Gemini API Key แล้ว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☐  </a:t>
            </a:r>
            <a:r>
              <a:rPr sz="1800" b="0" i="0">
                <a:solidFill>
                  <a:srgbClr val="FFFFFF"/>
                </a:solidFill>
                <a:latin typeface="Sarabun"/>
              </a:rPr>
              <a:t>เก็บ Key ใน Colab Secrets แล้ว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EAC750"/>
                </a:solidFill>
                <a:latin typeface="Sarabun"/>
              </a:rPr>
              <a:t>☐  </a:t>
            </a:r>
            <a:r>
              <a:rPr sz="1800" b="0" i="0">
                <a:solidFill>
                  <a:srgbClr val="FFFFFF"/>
                </a:solidFill>
                <a:latin typeface="Sarabun"/>
              </a:rPr>
              <a:t>Run ทดสอบผ่าน → เห็น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411480"/>
          </a:xfrm>
          <a:prstGeom prst="roundRect">
            <a:avLst/>
          </a:prstGeom>
          <a:solidFill>
            <a:srgbClr val="222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300" b="1" i="0">
                <a:solidFill>
                  <a:srgbClr val="EAC750"/>
                </a:solidFill>
                <a:latin typeface="Sarabun"/>
              </a:rPr>
              <a:t>🎯 ทำ checklist ครบ → วัน workshop จะราบรื่นมาก!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77240"/>
            <a:ext cx="22860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4991C"/>
                </a:solidFill>
                <a:latin typeface="Sarabun"/>
              </a:rPr>
              <a:t>🏆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CCCCDD"/>
                </a:solidFill>
                <a:latin typeface="Sarabun"/>
              </a:rPr>
              <a:t>หลังจบ workshop และส่งแบบฝึกหัดครบ: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i="0">
                <a:solidFill>
                  <a:srgbClr val="C4991C"/>
                </a:solidFill>
                <a:latin typeface="Sarabun"/>
              </a:rPr>
              <a:t>🤖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ระบบตรวจให้คะแนนอัตโนมัติ (AI Grading)</a:t>
            </a:r>
          </a:p>
          <a:p>
            <a:pPr>
              <a:spcAft>
                <a:spcPts val="1800"/>
              </a:spcAft>
            </a:pPr>
            <a:r>
              <a:rPr sz="2400" b="0" i="0">
                <a:solidFill>
                  <a:srgbClr val="C4991C"/>
                </a:solidFill>
                <a:latin typeface="Sarabun"/>
              </a:rPr>
              <a:t>📜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รับ Certificate ผ่านระบบ myhero.megawiz.co.th</a:t>
            </a:r>
          </a:p>
          <a:p>
            <a:pPr>
              <a:spcAft>
                <a:spcPts val="1800"/>
              </a:spcAft>
            </a:pPr>
            <a:r>
              <a:rPr sz="2400" b="0" i="0">
                <a:solidFill>
                  <a:srgbClr val="C4991C"/>
                </a:solidFill>
                <a:latin typeface="Sarabun"/>
              </a:rPr>
              <a:t>📥  </a:t>
            </a:r>
            <a:r>
              <a:rPr sz="2000" b="0" i="0">
                <a:solidFill>
                  <a:srgbClr val="FFFFFF"/>
                </a:solidFill>
                <a:latin typeface="Sarabun"/>
              </a:rPr>
              <a:t>ดาวน์โหลดได้ทันที (PDF)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828800" cy="38100"/>
          </a:xfrm>
          <a:prstGeom prst="rect">
            <a:avLst/>
          </a:prstGeom>
          <a:solidFill>
            <a:srgbClr val="C49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4991C"/>
                </a:solidFill>
                <a:latin typeface="Sarabun"/>
              </a:rPr>
              <a:t>❓ มีปัญหา?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822960"/>
          <a:ext cx="7772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ปัญหา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991C"/>
                          </a:solidFill>
                          <a:latin typeface="Sarabun"/>
                        </a:rPr>
                        <a:t>วิธีแก้</a:t>
                      </a:r>
                    </a:p>
                  </a:txBody>
                  <a:tcPr>
                    <a:solidFill>
                      <a:srgbClr val="0F145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เข้า myhero ไม่ได้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ตรวจอีเมล spam / ลองใหม่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ไม่ได้รับ OTP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เช็ค spam folder / รอ 1 นาที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API key not valid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สร้าง key ใหม่ที่ aistudio.google.com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Error 429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รอ 1-2 นาที แล้วลองใหม่</a:t>
                      </a:r>
                    </a:p>
                  </a:txBody>
                  <a:tcPr>
                    <a:solidFill>
                      <a:srgbClr val="1A237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Colab ช้า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arabun"/>
                        </a:rPr>
                        <a:t>Runtime → Change runtime type → T4 GPU</a:t>
                      </a:r>
                    </a:p>
                  </a:txBody>
                  <a:tcPr>
                    <a:solidFill>
                      <a:srgbClr val="151B6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23360"/>
            <a:ext cx="8229600" cy="411480"/>
          </a:xfrm>
          <a:prstGeom prst="roundRect">
            <a:avLst/>
          </a:prstGeom>
          <a:solidFill>
            <a:srgbClr val="222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300" b="1" i="0">
                <a:solidFill>
                  <a:srgbClr val="EAC750"/>
                </a:solidFill>
                <a:latin typeface="Sarabun"/>
              </a:rPr>
              <a:t>ถามอาจารย์ / TA ได้เลย 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